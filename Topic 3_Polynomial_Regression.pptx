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9" r:id="rId5"/>
    <p:sldId id="266" r:id="rId6"/>
    <p:sldId id="265" r:id="rId7"/>
    <p:sldId id="260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9C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2021-05D1-4093-B404-02CB9DCC4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B8E92-1946-E8BE-6D9F-583662036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106A2-4378-9F85-C50B-6661D222D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DD05-E1E5-4E70-A094-A2C147C23539}" type="datetimeFigureOut">
              <a:rPr lang="en-PH" smtClean="0"/>
              <a:t>10/13/2025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0D6E2-D553-AFE6-6C8F-22A1588E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44DEA-3D1A-2020-A310-E46D0F34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0E11-BDEA-4C76-A7B1-91BC5F41C7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30255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DD95E-4EC6-961E-6A97-6EB14534A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25BB4-709F-32F9-8D9C-A45707BE3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F49CF-6D91-E265-D51F-83267A616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DD05-E1E5-4E70-A094-A2C147C23539}" type="datetimeFigureOut">
              <a:rPr lang="en-PH" smtClean="0"/>
              <a:t>10/13/2025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36D3A-CA6D-0CC2-6D96-231DBDEB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EAECE-414C-734C-4F5B-78B9182F9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0E11-BDEA-4C76-A7B1-91BC5F41C7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96408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87672-5563-46E1-9D33-260D2ED7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8F2F8-A3FC-F656-74C6-A68988B40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7F950-2DCC-A26C-CA9D-A49109A8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DD05-E1E5-4E70-A094-A2C147C23539}" type="datetimeFigureOut">
              <a:rPr lang="en-PH" smtClean="0"/>
              <a:t>10/13/2025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1D008-E1BA-213C-05E4-B41AFC837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7E53C-2BC8-62C4-77A7-82BE8805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0E11-BDEA-4C76-A7B1-91BC5F41C7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0912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F10B-33B4-011C-283D-73ADC7D3A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E03EE-2554-A893-FBF2-95CBDBD36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BF550-0BFD-867C-5306-0EFD35AA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D1D55-DFD2-77BB-3636-7CF9DB95C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DD05-E1E5-4E70-A094-A2C147C23539}" type="datetimeFigureOut">
              <a:rPr lang="en-PH" smtClean="0"/>
              <a:t>10/13/2025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6B019-3236-4142-59E5-010E8E6C1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F7857-1408-A8F6-3728-FB09C696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0E11-BDEA-4C76-A7B1-91BC5F41C7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9302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0A6C-FFED-60E6-0B9C-E689C77B0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D9B65-A536-47E0-F39D-A300C4628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D1308-2E9F-08CA-74C9-ECAABB4D8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DB3F4-0E8D-A3FB-32C5-DEC0066CD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2A1B8-71BE-0323-FB0D-0E4358A1D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E9C7A0-DB79-2481-2B4C-169B2915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DD05-E1E5-4E70-A094-A2C147C23539}" type="datetimeFigureOut">
              <a:rPr lang="en-PH" smtClean="0"/>
              <a:t>10/13/2025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6E7A26-9CB0-2EBF-8E6C-A893A67F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9D3576-4160-D2AE-8DCF-9FD4F453A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0E11-BDEA-4C76-A7B1-91BC5F41C7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434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6DCAB-53A4-E6AA-46C2-EDC90E781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7D5EC-302B-D835-0C67-813D15A0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DD05-E1E5-4E70-A094-A2C147C23539}" type="datetimeFigureOut">
              <a:rPr lang="en-PH" smtClean="0"/>
              <a:t>10/13/2025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D5EAA-488B-B0A2-15F4-879AAD0F2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1A848-07D9-21B1-79FE-D694C02E2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0E11-BDEA-4C76-A7B1-91BC5F41C7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445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72BD4-1D8C-CECC-3EE7-DAF8CDB9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DD05-E1E5-4E70-A094-A2C147C23539}" type="datetimeFigureOut">
              <a:rPr lang="en-PH" smtClean="0"/>
              <a:t>10/13/2025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BD224-48B4-1FB2-5E54-75E3D80C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13CFC-5D63-C7C5-802C-8A438575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0E11-BDEA-4C76-A7B1-91BC5F41C7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78916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DEF13-F48B-C70C-775B-04564CBF1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C5489-1E9D-2245-6E0F-820867EE4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C0343-F790-691C-B3EF-4E53065C8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88001-0401-13C8-4776-689E25BF6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DD05-E1E5-4E70-A094-A2C147C23539}" type="datetimeFigureOut">
              <a:rPr lang="en-PH" smtClean="0"/>
              <a:t>10/13/2025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A4776-7252-B0B4-EFB3-E688828F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D6221-82D8-CD3A-C148-78CF7728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0E11-BDEA-4C76-A7B1-91BC5F41C7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707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E29D6-67E5-ED4C-588D-C1A071A1B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DA5FD-C359-4ACF-D0F0-50B0544B1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74E62-7E86-E01E-18D7-5549D2C5E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EA5E4-590E-BD5C-44A8-92C98CE5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DD05-E1E5-4E70-A094-A2C147C23539}" type="datetimeFigureOut">
              <a:rPr lang="en-PH" smtClean="0"/>
              <a:t>10/13/2025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81245-29F5-AA5F-5849-D810B5AF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11DBC-46D1-A242-89F8-250032FD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0E11-BDEA-4C76-A7B1-91BC5F41C7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7326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2235-716A-0EA2-7073-5A319DBB2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0EC0E-97EE-AF69-DEB3-9A1890085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D331D-538C-5407-5E9C-F63D58E1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DD05-E1E5-4E70-A094-A2C147C23539}" type="datetimeFigureOut">
              <a:rPr lang="en-PH" smtClean="0"/>
              <a:t>10/13/2025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307E4-4A07-6BAF-3B46-3FABCA2AE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2E1BA-94B2-A764-F717-5ACE4C39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0E11-BDEA-4C76-A7B1-91BC5F41C7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2838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9392AD-D6F6-8EE9-5D4C-05996C248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1E248-5CC3-9990-D373-D85C9C898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660FF-CF70-238B-1EE9-C05BDB7F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DD05-E1E5-4E70-A094-A2C147C23539}" type="datetimeFigureOut">
              <a:rPr lang="en-PH" smtClean="0"/>
              <a:t>10/13/2025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FA2FA-B75A-692D-C2D8-5A050074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31E1B-8F7B-4C81-6C65-E993787F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0E11-BDEA-4C76-A7B1-91BC5F41C7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568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BE5732-3AC1-60C8-8577-C6C062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B931F-15CB-D920-0CF7-3D9B1AB33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C3CB4-A0E1-2829-6831-032D30EA0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DDD05-E1E5-4E70-A094-A2C147C23539}" type="datetimeFigureOut">
              <a:rPr lang="en-PH" smtClean="0"/>
              <a:t>10/13/2025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EE2CC-A4BC-1E61-5D41-E76721C41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B8BBD-B886-B1BC-FDB4-CB82D9E05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E0E11-BDEA-4C76-A7B1-91BC5F41C7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5309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DD486-6102-404D-87A3-2E2EFE2C1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273" y="911844"/>
            <a:ext cx="4957011" cy="328863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Polynomial Regression – When Linear Fails</a:t>
            </a:r>
            <a:endParaRPr lang="en-PH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FBB4BB-7EB0-56BD-B6A9-ACDB7DE06BCE}"/>
              </a:ext>
            </a:extLst>
          </p:cNvPr>
          <p:cNvSpPr txBox="1"/>
          <p:nvPr/>
        </p:nvSpPr>
        <p:spPr>
          <a:xfrm>
            <a:off x="866273" y="4029124"/>
            <a:ext cx="4732422" cy="20313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Basic Machine Learning (CSST 102)</a:t>
            </a:r>
          </a:p>
          <a:p>
            <a:r>
              <a:rPr lang="en-US" dirty="0">
                <a:latin typeface="Century Gothic" panose="020B0502020202020204" pitchFamily="34" charset="0"/>
              </a:rPr>
              <a:t>Laguna State Polytechnic University</a:t>
            </a:r>
          </a:p>
          <a:p>
            <a:r>
              <a:rPr lang="en-US" dirty="0">
                <a:latin typeface="Century Gothic" panose="020B0502020202020204" pitchFamily="34" charset="0"/>
              </a:rPr>
              <a:t>1st Semester, Academic Year 2025–2026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Kean Gabriel E. </a:t>
            </a:r>
            <a:r>
              <a:rPr lang="en-US" dirty="0" err="1">
                <a:latin typeface="Century Gothic" panose="020B0502020202020204" pitchFamily="34" charset="0"/>
              </a:rPr>
              <a:t>Salvahan</a:t>
            </a:r>
            <a:endParaRPr lang="en-US" dirty="0">
              <a:latin typeface="Century Gothic" panose="020B0502020202020204" pitchFamily="34" charset="0"/>
            </a:endParaRPr>
          </a:p>
          <a:p>
            <a:endParaRPr lang="en-PH" dirty="0"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00A29D-07BE-72D5-1C85-415EF0C77C19}"/>
              </a:ext>
            </a:extLst>
          </p:cNvPr>
          <p:cNvSpPr/>
          <p:nvPr/>
        </p:nvSpPr>
        <p:spPr>
          <a:xfrm>
            <a:off x="8312727" y="0"/>
            <a:ext cx="3879273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34628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50582-AFCB-89C6-A7E5-614E7242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1929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Introduction &amp; The Problem with Straight Lines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9840D3-9FC5-68C2-CE1D-BDFDF96A0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44" y="1880903"/>
            <a:ext cx="8517022" cy="39631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91FA78-D32D-3DAF-03E8-7C9BC4D6523D}"/>
              </a:ext>
            </a:extLst>
          </p:cNvPr>
          <p:cNvSpPr txBox="1"/>
          <p:nvPr/>
        </p:nvSpPr>
        <p:spPr>
          <a:xfrm>
            <a:off x="838200" y="6040582"/>
            <a:ext cx="4553529" cy="33855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PH" sz="1600" dirty="0">
                <a:latin typeface="Century Gothic" panose="020B0502020202020204" pitchFamily="34" charset="0"/>
              </a:rPr>
              <a:t>Image Source: </a:t>
            </a:r>
            <a:r>
              <a:rPr lang="en-PH" sz="1600" i="1" dirty="0">
                <a:latin typeface="Century Gothic" panose="020B0502020202020204" pitchFamily="34" charset="0"/>
              </a:rPr>
              <a:t>www.geeksforgeeks.org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D921B-8A26-D6A3-C6FC-C0280BC32EA7}"/>
              </a:ext>
            </a:extLst>
          </p:cNvPr>
          <p:cNvSpPr/>
          <p:nvPr/>
        </p:nvSpPr>
        <p:spPr>
          <a:xfrm>
            <a:off x="10972800" y="0"/>
            <a:ext cx="12192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22149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2BAC-7708-4E57-4E2F-F938AA58E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208" y="550356"/>
            <a:ext cx="8715661" cy="80096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PH" b="1" dirty="0">
                <a:latin typeface="Century Gothic" panose="020B0502020202020204" pitchFamily="34" charset="0"/>
              </a:rPr>
              <a:t>What is Polynomial Regression?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7302E7-1F65-D7D8-B671-0E157594C291}"/>
              </a:ext>
            </a:extLst>
          </p:cNvPr>
          <p:cNvSpPr/>
          <p:nvPr/>
        </p:nvSpPr>
        <p:spPr>
          <a:xfrm>
            <a:off x="4294910" y="1692780"/>
            <a:ext cx="1690255" cy="565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>
                <a:solidFill>
                  <a:schemeClr val="tx1"/>
                </a:solidFill>
                <a:latin typeface="Century Gothic" panose="020B0502020202020204" pitchFamily="34" charset="0"/>
              </a:rPr>
              <a:t>Input</a:t>
            </a:r>
            <a:r>
              <a:rPr lang="en-PH" dirty="0">
                <a:solidFill>
                  <a:schemeClr val="tx1"/>
                </a:solidFill>
                <a:latin typeface="Century Gothic" panose="020B0502020202020204" pitchFamily="34" charset="0"/>
              </a:rPr>
              <a:t>: 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30C4E8-D015-D090-7C2F-F66697672337}"/>
              </a:ext>
            </a:extLst>
          </p:cNvPr>
          <p:cNvSpPr/>
          <p:nvPr/>
        </p:nvSpPr>
        <p:spPr>
          <a:xfrm>
            <a:off x="3923147" y="2618438"/>
            <a:ext cx="2433784" cy="565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>
                <a:solidFill>
                  <a:schemeClr val="tx1"/>
                </a:solidFill>
                <a:latin typeface="Century Gothic" panose="020B0502020202020204" pitchFamily="34" charset="0"/>
              </a:rPr>
              <a:t>Feature Transformer </a:t>
            </a:r>
            <a:r>
              <a:rPr lang="en-PH" dirty="0">
                <a:solidFill>
                  <a:schemeClr val="tx1"/>
                </a:solidFill>
                <a:latin typeface="Century Gothic" panose="020B0502020202020204" pitchFamily="34" charset="0"/>
              </a:rPr>
              <a:t>(Polynomial Terms)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7C17F6-8566-2E6D-DF4D-018011441458}"/>
              </a:ext>
            </a:extLst>
          </p:cNvPr>
          <p:cNvSpPr/>
          <p:nvPr/>
        </p:nvSpPr>
        <p:spPr>
          <a:xfrm>
            <a:off x="4184079" y="3544096"/>
            <a:ext cx="845128" cy="565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  <a:latin typeface="Century Gothic" panose="020B0502020202020204" pitchFamily="34" charset="0"/>
              </a:rPr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0009AC-6923-0EDA-35FC-F219001E0FEE}"/>
              </a:ext>
            </a:extLst>
          </p:cNvPr>
          <p:cNvSpPr/>
          <p:nvPr/>
        </p:nvSpPr>
        <p:spPr>
          <a:xfrm>
            <a:off x="5250874" y="3544096"/>
            <a:ext cx="845128" cy="565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  <a:latin typeface="Century Gothic" panose="020B0502020202020204" pitchFamily="34" charset="0"/>
              </a:rPr>
              <a:t>x²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B135E-DE9F-90DB-44A8-F9C38903A77F}"/>
              </a:ext>
            </a:extLst>
          </p:cNvPr>
          <p:cNvSpPr/>
          <p:nvPr/>
        </p:nvSpPr>
        <p:spPr>
          <a:xfrm>
            <a:off x="3761511" y="4469754"/>
            <a:ext cx="2757055" cy="565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>
                <a:solidFill>
                  <a:schemeClr val="tx1"/>
                </a:solidFill>
                <a:latin typeface="Century Gothic" panose="020B0502020202020204" pitchFamily="34" charset="0"/>
              </a:rPr>
              <a:t>Linear Regression Model </a:t>
            </a:r>
            <a:r>
              <a:rPr lang="en-PH" dirty="0">
                <a:solidFill>
                  <a:schemeClr val="tx1"/>
                </a:solidFill>
                <a:latin typeface="Century Gothic" panose="020B0502020202020204" pitchFamily="34" charset="0"/>
              </a:rPr>
              <a:t>(w₀, w₁, w₂)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0C1C51-8E7A-C2B3-B12E-D8B4E05A6679}"/>
              </a:ext>
            </a:extLst>
          </p:cNvPr>
          <p:cNvSpPr/>
          <p:nvPr/>
        </p:nvSpPr>
        <p:spPr>
          <a:xfrm>
            <a:off x="3761511" y="5395412"/>
            <a:ext cx="2757055" cy="565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>
                <a:solidFill>
                  <a:schemeClr val="tx1"/>
                </a:solidFill>
                <a:latin typeface="Century Gothic" panose="020B0502020202020204" pitchFamily="34" charset="0"/>
              </a:rPr>
              <a:t>Output</a:t>
            </a:r>
            <a:r>
              <a:rPr lang="en-PH" dirty="0">
                <a:solidFill>
                  <a:schemeClr val="tx1"/>
                </a:solidFill>
                <a:latin typeface="Century Gothic" panose="020B0502020202020204" pitchFamily="34" charset="0"/>
              </a:rPr>
              <a:t>: y = w₀ + </a:t>
            </a:r>
            <a:r>
              <a:rPr lang="en-PH" dirty="0" err="1">
                <a:solidFill>
                  <a:schemeClr val="tx1"/>
                </a:solidFill>
                <a:latin typeface="Century Gothic" panose="020B0502020202020204" pitchFamily="34" charset="0"/>
              </a:rPr>
              <a:t>w₁x</a:t>
            </a:r>
            <a:r>
              <a:rPr lang="en-PH" dirty="0">
                <a:solidFill>
                  <a:schemeClr val="tx1"/>
                </a:solidFill>
                <a:latin typeface="Century Gothic" panose="020B0502020202020204" pitchFamily="34" charset="0"/>
              </a:rPr>
              <a:t> + w₂x²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0C3D7A-BC4C-813F-0080-387CD965C303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5140038" y="2258507"/>
            <a:ext cx="1" cy="359931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6B52DB-C581-6338-91D7-14839BD7D464}"/>
              </a:ext>
            </a:extLst>
          </p:cNvPr>
          <p:cNvCxnSpPr/>
          <p:nvPr/>
        </p:nvCxnSpPr>
        <p:spPr>
          <a:xfrm>
            <a:off x="4606643" y="3188712"/>
            <a:ext cx="1" cy="359931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7DEEF3-62C5-2871-14DC-8EEE6DA1411E}"/>
              </a:ext>
            </a:extLst>
          </p:cNvPr>
          <p:cNvCxnSpPr/>
          <p:nvPr/>
        </p:nvCxnSpPr>
        <p:spPr>
          <a:xfrm>
            <a:off x="5673437" y="3204730"/>
            <a:ext cx="1" cy="359931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796E28-5ADA-4AB9-8961-16C2024499CC}"/>
              </a:ext>
            </a:extLst>
          </p:cNvPr>
          <p:cNvCxnSpPr/>
          <p:nvPr/>
        </p:nvCxnSpPr>
        <p:spPr>
          <a:xfrm>
            <a:off x="4839856" y="4109823"/>
            <a:ext cx="1" cy="359931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8C7050-BBB8-CEA9-4C4E-C6FDC049C403}"/>
              </a:ext>
            </a:extLst>
          </p:cNvPr>
          <p:cNvCxnSpPr/>
          <p:nvPr/>
        </p:nvCxnSpPr>
        <p:spPr>
          <a:xfrm>
            <a:off x="5444836" y="4109823"/>
            <a:ext cx="1" cy="359931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F85BD6-126E-1052-F0F8-CD6B22B7469D}"/>
              </a:ext>
            </a:extLst>
          </p:cNvPr>
          <p:cNvCxnSpPr/>
          <p:nvPr/>
        </p:nvCxnSpPr>
        <p:spPr>
          <a:xfrm>
            <a:off x="5140037" y="5035481"/>
            <a:ext cx="1" cy="359931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10DAF-1FCB-C614-05D8-4B1E53097990}"/>
              </a:ext>
            </a:extLst>
          </p:cNvPr>
          <p:cNvSpPr/>
          <p:nvPr/>
        </p:nvSpPr>
        <p:spPr>
          <a:xfrm>
            <a:off x="10037611" y="0"/>
            <a:ext cx="2154389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51168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15D8-C7A5-FD00-285C-6FDC99B90D74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PH" b="1" dirty="0">
                <a:latin typeface="Century Gothic" panose="020B0502020202020204" pitchFamily="34" charset="0"/>
              </a:rPr>
              <a:t>Real-World Applications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DD693D-2786-920E-4AA7-E9E6B9651EB3}"/>
              </a:ext>
            </a:extLst>
          </p:cNvPr>
          <p:cNvSpPr/>
          <p:nvPr/>
        </p:nvSpPr>
        <p:spPr>
          <a:xfrm>
            <a:off x="1256145" y="1865746"/>
            <a:ext cx="2604655" cy="35098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200" b="1" dirty="0">
                <a:latin typeface="Century Gothic" panose="020B0502020202020204" pitchFamily="34" charset="0"/>
              </a:rPr>
              <a:t>🌍↗️</a:t>
            </a:r>
          </a:p>
          <a:p>
            <a:pPr algn="ctr"/>
            <a:r>
              <a:rPr lang="en-PH" sz="3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Population Growth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DF7FD0-456E-D29E-9860-A99168AC7D09}"/>
              </a:ext>
            </a:extLst>
          </p:cNvPr>
          <p:cNvSpPr/>
          <p:nvPr/>
        </p:nvSpPr>
        <p:spPr>
          <a:xfrm>
            <a:off x="4793670" y="1865746"/>
            <a:ext cx="2604655" cy="35098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200" b="1" dirty="0">
                <a:latin typeface="Century Gothic" panose="020B0502020202020204" pitchFamily="34" charset="0"/>
              </a:rPr>
              <a:t>🦠⏳</a:t>
            </a:r>
          </a:p>
          <a:p>
            <a:pPr algn="ctr"/>
            <a:r>
              <a:rPr lang="en-PH" sz="3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Epidemic Curve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8B9BCC-E793-66FB-ABDF-DCEC90F0B767}"/>
              </a:ext>
            </a:extLst>
          </p:cNvPr>
          <p:cNvSpPr/>
          <p:nvPr/>
        </p:nvSpPr>
        <p:spPr>
          <a:xfrm>
            <a:off x="8331195" y="1865746"/>
            <a:ext cx="2604655" cy="35098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200" b="1" dirty="0">
                <a:latin typeface="Century Gothic" panose="020B0502020202020204" pitchFamily="34" charset="0"/>
              </a:rPr>
              <a:t>🌡️📈</a:t>
            </a:r>
          </a:p>
          <a:p>
            <a:pPr algn="ctr"/>
            <a:r>
              <a:rPr lang="en-PH" sz="3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Climate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316A2-DBF7-E664-1A35-4E79A2D422EE}"/>
              </a:ext>
            </a:extLst>
          </p:cNvPr>
          <p:cNvSpPr txBox="1"/>
          <p:nvPr/>
        </p:nvSpPr>
        <p:spPr>
          <a:xfrm>
            <a:off x="2535378" y="5883564"/>
            <a:ext cx="7121238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i="1" dirty="0">
                <a:latin typeface="Century Gothic" panose="020B0502020202020204" pitchFamily="34" charset="0"/>
              </a:rPr>
              <a:t>All show non-linear trends — perfect for Polynomial Regression.</a:t>
            </a:r>
            <a:endParaRPr lang="en-PH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877374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B03AC2-DB46-CF9F-A8C7-353CA8DB9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768" y="482340"/>
            <a:ext cx="3832952" cy="64842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PH" b="1" dirty="0">
                <a:latin typeface="Century Gothic" panose="020B0502020202020204" pitchFamily="34" charset="0"/>
              </a:rPr>
              <a:t>Recent Trends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566A15-8F14-A1F9-6BA5-42AC5FD79CAE}"/>
              </a:ext>
            </a:extLst>
          </p:cNvPr>
          <p:cNvSpPr txBox="1"/>
          <p:nvPr/>
        </p:nvSpPr>
        <p:spPr>
          <a:xfrm>
            <a:off x="719768" y="1054906"/>
            <a:ext cx="11147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Polynomial Regression Model to Predict Future COVID-19 Cases</a:t>
            </a:r>
            <a:endParaRPr lang="en-PH" sz="2800" b="1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FB4A4F-1C14-673D-E6F4-CDC85AC61312}"/>
              </a:ext>
            </a:extLst>
          </p:cNvPr>
          <p:cNvSpPr txBox="1"/>
          <p:nvPr/>
        </p:nvSpPr>
        <p:spPr>
          <a:xfrm>
            <a:off x="719768" y="1751094"/>
            <a:ext cx="50337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Authors</a:t>
            </a:r>
            <a:r>
              <a:rPr lang="en-US" dirty="0">
                <a:latin typeface="Century Gothic" panose="020B0502020202020204" pitchFamily="34" charset="0"/>
              </a:rPr>
              <a:t>: Dr. S. Suriya &amp; R. Sanjay Krishna (PSG College of Technology, India)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b="1" dirty="0">
                <a:latin typeface="Century Gothic" panose="020B0502020202020204" pitchFamily="34" charset="0"/>
              </a:rPr>
              <a:t>Published</a:t>
            </a:r>
            <a:r>
              <a:rPr lang="en-US" dirty="0">
                <a:latin typeface="Century Gothic" panose="020B0502020202020204" pitchFamily="34" charset="0"/>
              </a:rPr>
              <a:t>: </a:t>
            </a:r>
            <a:r>
              <a:rPr lang="en-US" i="1" dirty="0">
                <a:latin typeface="Century Gothic" panose="020B0502020202020204" pitchFamily="34" charset="0"/>
              </a:rPr>
              <a:t>Journal of Artificial Intelligence and Capsule Networks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b="1" dirty="0">
                <a:latin typeface="Century Gothic" panose="020B0502020202020204" pitchFamily="34" charset="0"/>
              </a:rPr>
              <a:t>June 2023</a:t>
            </a:r>
            <a:endParaRPr lang="en-PH" b="1" dirty="0">
              <a:latin typeface="Century Gothic" panose="020B0502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8E4309-ECE9-8358-F223-6B936882C10D}"/>
              </a:ext>
            </a:extLst>
          </p:cNvPr>
          <p:cNvSpPr txBox="1"/>
          <p:nvPr/>
        </p:nvSpPr>
        <p:spPr>
          <a:xfrm>
            <a:off x="6096000" y="1751094"/>
            <a:ext cx="53679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Objective</a:t>
            </a:r>
            <a:r>
              <a:rPr lang="en-US" dirty="0">
                <a:latin typeface="Century Gothic" panose="020B0502020202020204" pitchFamily="34" charset="0"/>
              </a:rPr>
              <a:t>:</a:t>
            </a:r>
          </a:p>
          <a:p>
            <a:r>
              <a:rPr lang="en-US" dirty="0">
                <a:latin typeface="Century Gothic" panose="020B0502020202020204" pitchFamily="34" charset="0"/>
              </a:rPr>
              <a:t>Develop a polynomial regression model to forecast short- to medium-term COVID-19 cases in India using historical data and key influencing factors (e.g., </a:t>
            </a:r>
            <a:r>
              <a:rPr lang="en-US" b="1" dirty="0">
                <a:latin typeface="Century Gothic" panose="020B0502020202020204" pitchFamily="34" charset="0"/>
              </a:rPr>
              <a:t>population density, healthcare access, government policies</a:t>
            </a:r>
            <a:r>
              <a:rPr lang="en-US" dirty="0">
                <a:latin typeface="Century Gothic" panose="020B0502020202020204" pitchFamily="34" charset="0"/>
              </a:rPr>
              <a:t>).</a:t>
            </a:r>
            <a:endParaRPr lang="en-PH" dirty="0">
              <a:latin typeface="Century Gothic" panose="020B0502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7E130C-89F8-D516-702A-6AC79B070FDB}"/>
              </a:ext>
            </a:extLst>
          </p:cNvPr>
          <p:cNvSpPr txBox="1"/>
          <p:nvPr/>
        </p:nvSpPr>
        <p:spPr>
          <a:xfrm>
            <a:off x="728031" y="3820319"/>
            <a:ext cx="50337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Method</a:t>
            </a:r>
            <a:r>
              <a:rPr lang="en-US" dirty="0">
                <a:latin typeface="Century Gothic" panose="020B0502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Used real-world case data from Our World in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Applied polynomial regression (degree optimized to avoid overfitting)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Validated with manual calculations and Python (Pandas, Scikit-learn)</a:t>
            </a:r>
            <a:endParaRPr lang="en-PH" dirty="0">
              <a:latin typeface="Century Gothic" panose="020B0502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69E623-711F-3550-6E48-6CD6AFCA31EC}"/>
              </a:ext>
            </a:extLst>
          </p:cNvPr>
          <p:cNvSpPr txBox="1"/>
          <p:nvPr/>
        </p:nvSpPr>
        <p:spPr>
          <a:xfrm>
            <a:off x="6096000" y="3820319"/>
            <a:ext cx="50337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Key Results</a:t>
            </a:r>
            <a:r>
              <a:rPr lang="en-US" dirty="0">
                <a:latin typeface="Century Gothic" panose="020B0502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96.64% </a:t>
            </a:r>
            <a:r>
              <a:rPr lang="en-US" dirty="0">
                <a:latin typeface="Century Gothic" panose="020B0502020202020204" pitchFamily="34" charset="0"/>
              </a:rPr>
              <a:t>prediction accuracy for </a:t>
            </a:r>
            <a:r>
              <a:rPr lang="en-US" b="1" dirty="0">
                <a:latin typeface="Century Gothic" panose="020B0502020202020204" pitchFamily="34" charset="0"/>
              </a:rPr>
              <a:t>both 5-day and 30-day forecasts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Correctly identified a recent case surge as a temporary spike, not a new wave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Model effectively captured non-linear trends in case data</a:t>
            </a:r>
            <a:endParaRPr lang="en-PH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98615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24A9-3761-1063-9ED9-62896A1DF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27" y="346652"/>
            <a:ext cx="5238173" cy="7617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A Word of Caution</a:t>
            </a:r>
            <a:endParaRPr lang="en-PH" b="1" dirty="0">
              <a:latin typeface="Century Gothic" panose="020B0502020202020204" pitchFamily="34" charset="0"/>
            </a:endParaRPr>
          </a:p>
        </p:txBody>
      </p:sp>
      <p:pic>
        <p:nvPicPr>
          <p:cNvPr id="2050" name="Picture 2" descr="What Is Overfitting in Machine Learning?Overfitting in ML ...">
            <a:extLst>
              <a:ext uri="{FF2B5EF4-FFF2-40B4-BE49-F238E27FC236}">
                <a16:creationId xmlns:a16="http://schemas.microsoft.com/office/drawing/2014/main" id="{732F5EF2-DDEE-9350-C533-A102332FF8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7" r="10964" b="23733"/>
          <a:stretch>
            <a:fillRect/>
          </a:stretch>
        </p:blipFill>
        <p:spPr bwMode="auto">
          <a:xfrm>
            <a:off x="2497281" y="1397505"/>
            <a:ext cx="5043056" cy="32114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F0E52C-99E5-1650-BE3D-CFD5F5499D0C}"/>
              </a:ext>
            </a:extLst>
          </p:cNvPr>
          <p:cNvSpPr/>
          <p:nvPr/>
        </p:nvSpPr>
        <p:spPr>
          <a:xfrm>
            <a:off x="10037611" y="0"/>
            <a:ext cx="2154389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24023-BFB7-A414-9F74-B27C94795280}"/>
              </a:ext>
            </a:extLst>
          </p:cNvPr>
          <p:cNvSpPr txBox="1"/>
          <p:nvPr/>
        </p:nvSpPr>
        <p:spPr>
          <a:xfrm>
            <a:off x="1493392" y="4757720"/>
            <a:ext cx="7295581" cy="276999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PH" sz="1200" dirty="0">
                <a:latin typeface="Century Gothic" panose="020B0502020202020204" pitchFamily="34" charset="0"/>
              </a:rPr>
              <a:t>Image Source: </a:t>
            </a:r>
            <a:r>
              <a:rPr lang="en-PH" sz="1200" i="1" dirty="0">
                <a:latin typeface="Century Gothic" panose="020B0502020202020204" pitchFamily="34" charset="0"/>
              </a:rPr>
              <a:t>https://pub.towardsai.net/what-is-overfitting-in-machine-learning-ebdf40bb21b1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81DFDD-C90C-3A33-72C7-F3004259DD1B}"/>
              </a:ext>
            </a:extLst>
          </p:cNvPr>
          <p:cNvSpPr/>
          <p:nvPr/>
        </p:nvSpPr>
        <p:spPr>
          <a:xfrm>
            <a:off x="1661390" y="5331544"/>
            <a:ext cx="1671782" cy="76171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  <a:latin typeface="Century Gothic" panose="020B0502020202020204" pitchFamily="34" charset="0"/>
              </a:rPr>
              <a:t>Underfitting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4909EF-4EC0-F320-EFEC-CA36D26D2778}"/>
              </a:ext>
            </a:extLst>
          </p:cNvPr>
          <p:cNvSpPr/>
          <p:nvPr/>
        </p:nvSpPr>
        <p:spPr>
          <a:xfrm>
            <a:off x="4182918" y="5331544"/>
            <a:ext cx="1671782" cy="76171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  <a:latin typeface="Century Gothic" panose="020B0502020202020204" pitchFamily="34" charset="0"/>
              </a:rPr>
              <a:t>Just Right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39B46E-AB59-C955-F87D-A88EC34EAC26}"/>
              </a:ext>
            </a:extLst>
          </p:cNvPr>
          <p:cNvSpPr/>
          <p:nvPr/>
        </p:nvSpPr>
        <p:spPr>
          <a:xfrm>
            <a:off x="6704446" y="5331544"/>
            <a:ext cx="1671782" cy="76171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609C7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  <a:latin typeface="Century Gothic" panose="020B0502020202020204" pitchFamily="34" charset="0"/>
              </a:rPr>
              <a:t>Overfitting</a:t>
            </a:r>
          </a:p>
        </p:txBody>
      </p:sp>
    </p:spTree>
    <p:extLst>
      <p:ext uri="{BB962C8B-B14F-4D97-AF65-F5344CB8AC3E}">
        <p14:creationId xmlns:p14="http://schemas.microsoft.com/office/powerpoint/2010/main" val="172285881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8AFE-53A0-3D1A-CEFC-BC2FC580B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391" y="586798"/>
            <a:ext cx="10901218" cy="761711"/>
          </a:xfrm>
        </p:spPr>
        <p:txBody>
          <a:bodyPr/>
          <a:lstStyle/>
          <a:p>
            <a:r>
              <a:rPr lang="en-PH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Implementation in Python (Scikit-Learn)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5A2DA-9039-6CEB-235E-1909FDAA3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997" y="1823233"/>
            <a:ext cx="6618006" cy="45775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7217048"/>
      </p:ext>
    </p:extLst>
  </p:cSld>
  <p:clrMapOvr>
    <a:masterClrMapping/>
  </p:clrMapOvr>
  <p:transition spd="slow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2E7E-27C2-7CFC-8BEE-8BB0D9C0D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482" y="540617"/>
            <a:ext cx="3235036" cy="669348"/>
          </a:xfrm>
          <a:effectLst/>
        </p:spPr>
        <p:txBody>
          <a:bodyPr>
            <a:normAutofit fontScale="90000"/>
          </a:bodyPr>
          <a:lstStyle/>
          <a:p>
            <a:r>
              <a:rPr lang="en-PH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C58ECB-CB10-6D35-7336-D59A8D2621DE}"/>
              </a:ext>
            </a:extLst>
          </p:cNvPr>
          <p:cNvSpPr txBox="1"/>
          <p:nvPr/>
        </p:nvSpPr>
        <p:spPr>
          <a:xfrm>
            <a:off x="900363" y="1690688"/>
            <a:ext cx="103912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Géron</a:t>
            </a:r>
            <a:r>
              <a:rPr lang="en-US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, A. (2022). Hands-On Machine Learning with Scikit-Learn, </a:t>
            </a:r>
            <a:r>
              <a:rPr lang="en-US" sz="24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Keras</a:t>
            </a:r>
            <a:r>
              <a:rPr lang="en-US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, and TensorFlow (3rd ed.). O'Reilly Media.</a:t>
            </a:r>
          </a:p>
          <a:p>
            <a:endParaRPr lang="en-US" sz="2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Filipow</a:t>
            </a:r>
            <a:r>
              <a:rPr lang="en-US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, N. (2023). Exploring flexible polynomial regression as a method to investigate the effects of exercise on health. Journal of Health Analytics.</a:t>
            </a:r>
          </a:p>
          <a:p>
            <a:endParaRPr lang="en-US" sz="2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Lyu, B. (2024). Multiple-model polynomial regression and efficient algorithms for data analysis. IEEE Transactions on Pattern Analysis and Machine Intelligence.</a:t>
            </a:r>
          </a:p>
          <a:p>
            <a:endParaRPr lang="en-US" sz="2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Hey Amit. (2024). Polynomial Regression for Prediction. Medium.</a:t>
            </a:r>
          </a:p>
        </p:txBody>
      </p:sp>
    </p:spTree>
    <p:extLst>
      <p:ext uri="{BB962C8B-B14F-4D97-AF65-F5344CB8AC3E}">
        <p14:creationId xmlns:p14="http://schemas.microsoft.com/office/powerpoint/2010/main" val="121663326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C2BBDE-7057-9D43-01B2-9C8591DD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963" y="1680578"/>
            <a:ext cx="6124074" cy="1325563"/>
          </a:xfrm>
        </p:spPr>
        <p:txBody>
          <a:bodyPr>
            <a:normAutofit/>
          </a:bodyPr>
          <a:lstStyle/>
          <a:p>
            <a:r>
              <a:rPr lang="en-PH" sz="8800" b="1" dirty="0">
                <a:latin typeface="Century Gothic" panose="020B0502020202020204" pitchFamily="34" charset="0"/>
              </a:rPr>
              <a:t>Thank you!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4D972-ACCD-7200-F0A2-38B374714BA0}"/>
              </a:ext>
            </a:extLst>
          </p:cNvPr>
          <p:cNvSpPr txBox="1"/>
          <p:nvPr/>
        </p:nvSpPr>
        <p:spPr>
          <a:xfrm>
            <a:off x="4475747" y="3429000"/>
            <a:ext cx="32405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/>
              <a:t>Questions?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9610A-1473-583E-EF4A-86F0398E5673}"/>
              </a:ext>
            </a:extLst>
          </p:cNvPr>
          <p:cNvSpPr/>
          <p:nvPr/>
        </p:nvSpPr>
        <p:spPr>
          <a:xfrm>
            <a:off x="0" y="5532437"/>
            <a:ext cx="12192000" cy="13255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5072558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377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Office Theme</vt:lpstr>
      <vt:lpstr>Polynomial Regression – When Linear Fails</vt:lpstr>
      <vt:lpstr>Introduction &amp; The Problem with Straight Lines</vt:lpstr>
      <vt:lpstr>What is Polynomial Regression?</vt:lpstr>
      <vt:lpstr>Real-World Applications</vt:lpstr>
      <vt:lpstr>Recent Trends</vt:lpstr>
      <vt:lpstr>A Word of Caution</vt:lpstr>
      <vt:lpstr>Implementation in Python (Scikit-Learn)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k9320990@gmail.com</dc:creator>
  <cp:lastModifiedBy>k9320990@gmail.com</cp:lastModifiedBy>
  <cp:revision>12</cp:revision>
  <dcterms:created xsi:type="dcterms:W3CDTF">2025-10-02T08:55:45Z</dcterms:created>
  <dcterms:modified xsi:type="dcterms:W3CDTF">2025-10-13T00:42:08Z</dcterms:modified>
</cp:coreProperties>
</file>